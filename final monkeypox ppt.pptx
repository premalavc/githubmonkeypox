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60" r:id="rId4"/>
    <p:sldId id="263" r:id="rId5"/>
    <p:sldId id="264" r:id="rId6"/>
    <p:sldId id="265" r:id="rId7"/>
    <p:sldId id="267" r:id="rId8"/>
    <p:sldId id="266" r:id="rId9"/>
    <p:sldId id="270" r:id="rId10"/>
    <p:sldId id="282" r:id="rId11"/>
    <p:sldId id="283" r:id="rId12"/>
    <p:sldId id="269" r:id="rId13"/>
    <p:sldId id="278" r:id="rId14"/>
    <p:sldId id="262" r:id="rId15"/>
    <p:sldId id="274" r:id="rId16"/>
    <p:sldId id="284"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39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10B14-515E-452F-9499-3B5CACEB6863}" type="datetimeFigureOut">
              <a:rPr lang="en-IN" smtClean="0"/>
              <a:t>04-12-2024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E99DA-1FEC-4FBB-99D2-3DAEE7E484C7}"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B9A29B-9157-4BAF-B07C-16F2943FFACB}" type="datetimeFigureOut">
              <a:rPr lang="en-IN" smtClean="0"/>
              <a:t>04-12-2024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B9A29B-9157-4BAF-B07C-16F2943FFACB}" type="datetimeFigureOut">
              <a:rPr lang="en-IN" smtClean="0"/>
              <a:t>04-12-2024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B9A29B-9157-4BAF-B07C-16F2943FFACB}" type="datetimeFigureOut">
              <a:rPr lang="en-IN" smtClean="0"/>
              <a:t>04-12-2024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B9A29B-9157-4BAF-B07C-16F2943FFACB}" type="datetimeFigureOut">
              <a:rPr lang="en-IN" smtClean="0"/>
              <a:t>04-12-2024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panose="020B0604020202020204"/>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panose="020B0604020202020204"/>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B9A29B-9157-4BAF-B07C-16F2943FFACB}" type="datetimeFigureOut">
              <a:rPr lang="en-IN" smtClean="0"/>
              <a:t>04-12-2024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8EE3F3-9552-4C0F-A936-7B306B1A46A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a:fillRect/>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a:fillRect/>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0B9A29B-9157-4BAF-B07C-16F2943FFACB}" type="datetimeFigureOut">
              <a:rPr lang="en-IN" smtClean="0"/>
              <a:t>04-12-2024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78EE3F3-9552-4C0F-A936-7B306B1A46A9}"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700" y="89292"/>
            <a:ext cx="12594566" cy="2645282"/>
          </a:xfrm>
        </p:spPr>
        <p:txBody>
          <a:bodyPr/>
          <a:lstStyle/>
          <a:p>
            <a:pPr algn="ctr"/>
            <a:r>
              <a:rPr lang="en-US" sz="3600" dirty="0">
                <a:latin typeface="Times New Roman" panose="02020603050405020304" pitchFamily="18" charset="0"/>
                <a:cs typeface="Times New Roman" panose="02020603050405020304" pitchFamily="18" charset="0"/>
              </a:rPr>
              <a:t>GURU NANAK DEV ENGINEERING</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COLLEGE BIDAR</a:t>
            </a:r>
            <a:br>
              <a:rPr lang="en-US" sz="36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INFORMATION SCIENCE AND ENGINEERING</a:t>
            </a:r>
            <a:br>
              <a:rPr lang="en-US" sz="3600" dirty="0">
                <a:latin typeface="Times New Roman" panose="02020603050405020304" pitchFamily="18" charset="0"/>
                <a:cs typeface="Times New Roman" panose="02020603050405020304" pitchFamily="18" charset="0"/>
              </a:rPr>
            </a:br>
            <a:br>
              <a:rPr lang="en-US" sz="3600" dirty="0">
                <a:latin typeface="Berlin Sans FB Demi" panose="020E0802020502020306" pitchFamily="34" charset="0"/>
              </a:rPr>
            </a:br>
            <a:r>
              <a:rPr lang="en-US" sz="2400" dirty="0">
                <a:latin typeface="Times New Roman" panose="02020603050405020304" pitchFamily="18" charset="0"/>
                <a:cs typeface="Times New Roman" panose="02020603050405020304" pitchFamily="18" charset="0"/>
              </a:rPr>
              <a:t>MONKEYPOX DISEASE DETECTION AND PREDECTION</a:t>
            </a:r>
            <a:endParaRPr lang="en-IN" sz="3600" dirty="0">
              <a:latin typeface="Times New Roman" panose="02020603050405020304" pitchFamily="18" charset="0"/>
              <a:cs typeface="Times New Roman" panose="02020603050405020304" pitchFamily="18" charset="0"/>
            </a:endParaRPr>
          </a:p>
        </p:txBody>
      </p:sp>
      <p:sp>
        <p:nvSpPr>
          <p:cNvPr id="16" name="Subtitle 15"/>
          <p:cNvSpPr>
            <a:spLocks noGrp="1"/>
          </p:cNvSpPr>
          <p:nvPr>
            <p:ph type="subTitle" idx="1"/>
          </p:nvPr>
        </p:nvSpPr>
        <p:spPr>
          <a:xfrm>
            <a:off x="449704" y="3096883"/>
            <a:ext cx="5918279" cy="3372927"/>
          </a:xfrm>
        </p:spPr>
        <p:txBody>
          <a:bodyPr>
            <a:normAutofit lnSpcReduction="10000"/>
          </a:bodyPr>
          <a:lstStyle/>
          <a:p>
            <a:r>
              <a:rPr lang="en-US" dirty="0">
                <a:latin typeface="Berlin Sans FB Demi" panose="020E0802020502020306" pitchFamily="34" charset="0"/>
              </a:rPr>
              <a:t> Presented by</a:t>
            </a:r>
          </a:p>
          <a:p>
            <a:r>
              <a:rPr lang="en-US" dirty="0">
                <a:latin typeface="Times New Roman" panose="02020603050405020304" pitchFamily="18" charset="0"/>
                <a:cs typeface="Times New Roman" panose="02020603050405020304" pitchFamily="18" charset="0"/>
              </a:rPr>
              <a:t>BHAGYAVANTI (3GN21IS008)</a:t>
            </a:r>
          </a:p>
          <a:p>
            <a:r>
              <a:rPr lang="en-US" dirty="0">
                <a:latin typeface="Times New Roman" panose="02020603050405020304" pitchFamily="18" charset="0"/>
                <a:cs typeface="Times New Roman" panose="02020603050405020304" pitchFamily="18" charset="0"/>
              </a:rPr>
              <a:t>BHOOMIKA       (3GN21IS009)</a:t>
            </a:r>
          </a:p>
          <a:p>
            <a:r>
              <a:rPr lang="en-US" dirty="0">
                <a:latin typeface="Times New Roman" panose="02020603050405020304" pitchFamily="18" charset="0"/>
                <a:cs typeface="Times New Roman" panose="02020603050405020304" pitchFamily="18" charset="0"/>
              </a:rPr>
              <a:t>PREMALA          (3GN21IS029)</a:t>
            </a:r>
          </a:p>
          <a:p>
            <a:r>
              <a:rPr lang="en-US" dirty="0">
                <a:latin typeface="Times New Roman" panose="02020603050405020304" pitchFamily="18" charset="0"/>
                <a:cs typeface="Times New Roman" panose="02020603050405020304" pitchFamily="18" charset="0"/>
              </a:rPr>
              <a:t>RAKSHITA          (3GN21IS032)</a:t>
            </a:r>
          </a:p>
          <a:p>
            <a:endParaRPr lang="en-US" dirty="0">
              <a:latin typeface="Berlin Sans FB Demi" panose="020E0802020502020306" pitchFamily="34" charset="0"/>
            </a:endParaRPr>
          </a:p>
          <a:p>
            <a:r>
              <a:rPr lang="en-US" dirty="0">
                <a:latin typeface="Berlin Sans FB Demi" panose="020E0802020502020306" pitchFamily="34" charset="0"/>
              </a:rPr>
              <a:t>Under the guidance of </a:t>
            </a:r>
          </a:p>
          <a:p>
            <a:r>
              <a:rPr lang="en-US" dirty="0">
                <a:latin typeface="Times New Roman" panose="02020603050405020304" pitchFamily="18" charset="0"/>
                <a:cs typeface="Times New Roman" panose="02020603050405020304" pitchFamily="18" charset="0"/>
              </a:rPr>
              <a:t>PROF. SHRUTI PATIL</a:t>
            </a:r>
          </a:p>
        </p:txBody>
      </p:sp>
      <p:pic>
        <p:nvPicPr>
          <p:cNvPr id="1026" name="Picture 2" descr="Full article: Detection of Monkeypox from skin lesion images using deep  learning networks and explainable artificial intelligence">
            <a:extLst>
              <a:ext uri="{FF2B5EF4-FFF2-40B4-BE49-F238E27FC236}">
                <a16:creationId xmlns:a16="http://schemas.microsoft.com/office/drawing/2014/main" id="{D348E978-8BFC-0BA1-E166-36E36C60F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620" y="3532472"/>
            <a:ext cx="4762500" cy="323623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28D6434-C62D-37AE-3640-5D218E8FC4D6}"/>
              </a:ext>
            </a:extLst>
          </p:cNvPr>
          <p:cNvPicPr/>
          <p:nvPr/>
        </p:nvPicPr>
        <p:blipFill>
          <a:blip r:embed="rId3"/>
          <a:stretch>
            <a:fillRect/>
          </a:stretch>
        </p:blipFill>
        <p:spPr>
          <a:xfrm>
            <a:off x="310551" y="311478"/>
            <a:ext cx="1164566" cy="12326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400530"/>
          </a:xfrm>
        </p:spPr>
        <p:txBody>
          <a:bodyPr anchor="t">
            <a:normAutofit/>
          </a:bodyPr>
          <a:lstStyle/>
          <a:p>
            <a:r>
              <a:rPr lang="en-US" dirty="0"/>
              <a:t>Contents</a:t>
            </a:r>
            <a:endParaRPr lang="en-IN" dirty="0"/>
          </a:p>
        </p:txBody>
      </p:sp>
      <p:pic>
        <p:nvPicPr>
          <p:cNvPr id="1026" name="Picture 2" descr="How to Make Content Page For Project File | Project File Decoration Idea |  Content Page Design - YouTube"/>
          <p:cNvPicPr>
            <a:picLocks noChangeAspect="1" noChangeArrowheads="1"/>
          </p:cNvPicPr>
          <p:nvPr/>
        </p:nvPicPr>
        <p:blipFill>
          <a:blip r:embed="rId2">
            <a:extLst>
              <a:ext uri="{28A0092B-C50C-407E-A947-70E740481C1C}">
                <a14:useLocalDpi xmlns:a14="http://schemas.microsoft.com/office/drawing/2010/main" val="0"/>
              </a:ext>
            </a:extLst>
          </a:blip>
          <a:srcRect l="15612" r="5803" b="1"/>
          <a:stretch/>
        </p:blipFill>
        <p:spPr bwMode="auto">
          <a:xfrm>
            <a:off x="1103312" y="2060575"/>
            <a:ext cx="4396339" cy="4195763"/>
          </a:xfrm>
          <a:prstGeom prst="rect">
            <a:avLst/>
          </a:prstGeom>
          <a:solidFill>
            <a:srgbClr val="FFFFFF"/>
          </a:solidFill>
        </p:spPr>
      </p:pic>
      <p:sp>
        <p:nvSpPr>
          <p:cNvPr id="3" name="Content Placeholder 2"/>
          <p:cNvSpPr>
            <a:spLocks noGrp="1"/>
          </p:cNvSpPr>
          <p:nvPr>
            <p:ph sz="half" idx="2"/>
          </p:nvPr>
        </p:nvSpPr>
        <p:spPr>
          <a:xfrm>
            <a:off x="5132717" y="2147977"/>
            <a:ext cx="4918117" cy="4597880"/>
          </a:xfrm>
        </p:spPr>
        <p:txBody>
          <a:bodyPr>
            <a:normAutofit/>
          </a:bodyPr>
          <a:lstStyle/>
          <a:p>
            <a:pPr marL="685800" lvl="1">
              <a:lnSpc>
                <a:spcPct val="90000"/>
              </a:lnSpc>
            </a:pPr>
            <a:r>
              <a:rPr lang="en-US" dirty="0"/>
              <a:t>Introduction</a:t>
            </a:r>
          </a:p>
          <a:p>
            <a:pPr marL="685800" lvl="1">
              <a:lnSpc>
                <a:spcPct val="90000"/>
              </a:lnSpc>
            </a:pPr>
            <a:r>
              <a:rPr lang="en-US" dirty="0"/>
              <a:t>Literature Survey</a:t>
            </a:r>
          </a:p>
          <a:p>
            <a:pPr marL="685800" lvl="1">
              <a:lnSpc>
                <a:spcPct val="90000"/>
              </a:lnSpc>
            </a:pPr>
            <a:r>
              <a:rPr lang="en-US" dirty="0"/>
              <a:t>Problem statement</a:t>
            </a:r>
          </a:p>
          <a:p>
            <a:pPr marL="685800" lvl="1">
              <a:lnSpc>
                <a:spcPct val="90000"/>
              </a:lnSpc>
            </a:pPr>
            <a:r>
              <a:rPr lang="en-US" dirty="0"/>
              <a:t>Objectives</a:t>
            </a:r>
          </a:p>
          <a:p>
            <a:pPr marL="685800" lvl="1">
              <a:lnSpc>
                <a:spcPct val="90000"/>
              </a:lnSpc>
            </a:pPr>
            <a:r>
              <a:rPr lang="en-US" dirty="0"/>
              <a:t>System Analysis</a:t>
            </a:r>
          </a:p>
          <a:p>
            <a:pPr marL="685800" lvl="1">
              <a:lnSpc>
                <a:spcPct val="90000"/>
              </a:lnSpc>
            </a:pPr>
            <a:r>
              <a:rPr lang="en-US" dirty="0"/>
              <a:t>System Specifications</a:t>
            </a:r>
          </a:p>
          <a:p>
            <a:pPr marL="685800" lvl="1">
              <a:lnSpc>
                <a:spcPct val="90000"/>
              </a:lnSpc>
            </a:pPr>
            <a:r>
              <a:rPr lang="en-US" dirty="0"/>
              <a:t>System Design</a:t>
            </a:r>
          </a:p>
          <a:p>
            <a:pPr marL="685800" lvl="1">
              <a:lnSpc>
                <a:spcPct val="90000"/>
              </a:lnSpc>
            </a:pPr>
            <a:r>
              <a:rPr lang="en-US" dirty="0"/>
              <a:t>Screenshots</a:t>
            </a:r>
          </a:p>
          <a:p>
            <a:pPr marL="685800" lvl="1">
              <a:lnSpc>
                <a:spcPct val="90000"/>
              </a:lnSpc>
            </a:pPr>
            <a:r>
              <a:rPr lang="en-US" dirty="0"/>
              <a:t>Conclusion </a:t>
            </a:r>
          </a:p>
          <a:p>
            <a:pPr marL="685800" lvl="1">
              <a:lnSpc>
                <a:spcPct val="90000"/>
              </a:lnSpc>
            </a:pPr>
            <a:r>
              <a:rPr lang="en-US" dirty="0"/>
              <a:t>References</a:t>
            </a:r>
          </a:p>
          <a:p>
            <a:pPr>
              <a:lnSpc>
                <a:spcPct val="90000"/>
              </a:lnSpc>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IN" dirty="0"/>
          </a:p>
        </p:txBody>
      </p:sp>
      <p:sp>
        <p:nvSpPr>
          <p:cNvPr id="14" name="Content Placeholder 13"/>
          <p:cNvSpPr>
            <a:spLocks noGrp="1"/>
          </p:cNvSpPr>
          <p:nvPr>
            <p:ph sz="half" idx="2"/>
          </p:nvPr>
        </p:nvSpPr>
        <p:spPr>
          <a:xfrm>
            <a:off x="422092" y="1328877"/>
            <a:ext cx="10550708" cy="5076405"/>
          </a:xfrm>
        </p:spPr>
        <p:txBody>
          <a:bodyPr>
            <a:normAutofit/>
          </a:bodyPr>
          <a:lstStyle/>
          <a:p>
            <a:pPr algn="just">
              <a:lnSpc>
                <a:spcPct val="200000"/>
              </a:lnSpc>
            </a:pPr>
            <a:r>
              <a:rPr lang="en-US" sz="1800" dirty="0">
                <a:effectLst/>
                <a:latin typeface="Times New Roman" panose="02020603050405020304" pitchFamily="18" charset="0"/>
                <a:ea typeface="Times New Roman" panose="02020603050405020304" pitchFamily="18" charset="0"/>
              </a:rPr>
              <a:t>Monkeypox is a viral disease caused by the monkeypox virus, a member of the </a:t>
            </a:r>
            <a:r>
              <a:rPr lang="en-US" sz="1800" dirty="0" err="1">
                <a:effectLst/>
                <a:latin typeface="Times New Roman" panose="02020603050405020304" pitchFamily="18" charset="0"/>
                <a:ea typeface="Times New Roman" panose="02020603050405020304" pitchFamily="18" charset="0"/>
              </a:rPr>
              <a:t>Orthopoxvirus</a:t>
            </a:r>
            <a:r>
              <a:rPr lang="en-US" sz="1800" dirty="0">
                <a:effectLst/>
                <a:latin typeface="Times New Roman" panose="02020603050405020304" pitchFamily="18" charset="0"/>
                <a:ea typeface="Times New Roman" panose="02020603050405020304" pitchFamily="18" charset="0"/>
              </a:rPr>
              <a:t> genus. </a:t>
            </a:r>
          </a:p>
          <a:p>
            <a:pPr algn="just">
              <a:lnSpc>
                <a:spcPct val="200000"/>
              </a:lnSpc>
            </a:pPr>
            <a:r>
              <a:rPr lang="en-US" sz="1800" dirty="0">
                <a:effectLst/>
                <a:latin typeface="Times New Roman" panose="02020603050405020304" pitchFamily="18" charset="0"/>
                <a:ea typeface="Times New Roman" panose="02020603050405020304" pitchFamily="18" charset="0"/>
              </a:rPr>
              <a:t>It was first identified in laboratory monkeys in 1958 and later in humans in 1970 in Central and West African regions. Monkeypox presents symptoms similar to smallpox but generally with milder severity. </a:t>
            </a:r>
          </a:p>
          <a:p>
            <a:pPr algn="just">
              <a:lnSpc>
                <a:spcPct val="200000"/>
              </a:lnSpc>
            </a:pPr>
            <a:r>
              <a:rPr lang="en-US" sz="1800" dirty="0">
                <a:effectLst/>
                <a:latin typeface="Times New Roman" panose="02020603050405020304" pitchFamily="18" charset="0"/>
                <a:ea typeface="Times New Roman" panose="02020603050405020304" pitchFamily="18" charset="0"/>
              </a:rPr>
              <a:t>These include fever, lymphadenopathy, muscle aches, and a characteristic rash that progresses to pustules. The growing global concern regarding monkeypox stems from its potential to cause localized outbreaks, primarily through human-to-human transmission or contact with infected animals. </a:t>
            </a:r>
          </a:p>
          <a:p>
            <a:pPr algn="just">
              <a:lnSpc>
                <a:spcPct val="200000"/>
              </a:lnSpc>
            </a:pPr>
            <a:r>
              <a:rPr lang="en-US" sz="1800" dirty="0">
                <a:effectLst/>
                <a:latin typeface="Times New Roman" panose="02020603050405020304" pitchFamily="18" charset="0"/>
                <a:ea typeface="Times New Roman" panose="02020603050405020304" pitchFamily="18" charset="0"/>
              </a:rPr>
              <a:t>The need for effective and timely detection is critical to controlling the spread of this disease and preventing outbreaks.</a:t>
            </a:r>
          </a:p>
          <a:p>
            <a:pPr algn="just">
              <a:lnSpc>
                <a:spcPct val="200000"/>
              </a:lnSpc>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Continues</a:t>
            </a:r>
            <a:endParaRPr lang="en-IN" dirty="0"/>
          </a:p>
        </p:txBody>
      </p:sp>
      <p:sp>
        <p:nvSpPr>
          <p:cNvPr id="3" name="Content Placeholder 2"/>
          <p:cNvSpPr>
            <a:spLocks noGrp="1"/>
          </p:cNvSpPr>
          <p:nvPr>
            <p:ph idx="1"/>
          </p:nvPr>
        </p:nvSpPr>
        <p:spPr>
          <a:xfrm>
            <a:off x="646110" y="1438322"/>
            <a:ext cx="10116377" cy="4662675"/>
          </a:xfrm>
        </p:spPr>
        <p:txBody>
          <a:bodyPr>
            <a:normAutofit/>
          </a:bodyPr>
          <a:lstStyle/>
          <a:p>
            <a:pPr algn="just">
              <a:lnSpc>
                <a:spcPct val="150000"/>
              </a:lnSpc>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With advancements in technology, artificial intelligence (AI) and machine learning (ML) have emerged as powerful tools in the healthcare domain. </a:t>
            </a:r>
          </a:p>
          <a:p>
            <a:pPr algn="just">
              <a:lnSpc>
                <a:spcPct val="150000"/>
              </a:lnSpc>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Machine learning algorithms, especially those based on deep learning, have demonstrated high efficiency in processing and analyzing complex data, including medical images. </a:t>
            </a:r>
          </a:p>
          <a:p>
            <a:pPr algn="just">
              <a:lnSpc>
                <a:spcPct val="150000"/>
              </a:lnSpc>
              <a:buFont typeface="Wingdings" panose="05000000000000000000" pitchFamily="2" charset="2"/>
              <a:buChar char="Ø"/>
            </a:pPr>
            <a:r>
              <a:rPr lang="en-US" sz="2000" dirty="0">
                <a:effectLst/>
                <a:latin typeface="Times New Roman" panose="02020603050405020304" pitchFamily="18" charset="0"/>
                <a:ea typeface="Times New Roman" panose="02020603050405020304" pitchFamily="18" charset="0"/>
              </a:rPr>
              <a:t>This study leverages these capabilities to develop an automated system for detecting monkeypox and similar skin conditions from medical images, ensuring early diagnosis and appropriate interventions.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3" name="Content Placeholder 2"/>
          <p:cNvSpPr>
            <a:spLocks noGrp="1"/>
          </p:cNvSpPr>
          <p:nvPr>
            <p:ph idx="1"/>
          </p:nvPr>
        </p:nvSpPr>
        <p:spPr>
          <a:xfrm>
            <a:off x="398774" y="1414073"/>
            <a:ext cx="9970521" cy="5106648"/>
          </a:xfrm>
        </p:spPr>
        <p:txBody>
          <a:bodyPr>
            <a:normAutofit/>
          </a:bodyPr>
          <a:lstStyle/>
          <a:p>
            <a:pPr algn="just">
              <a:lnSpc>
                <a:spcPct val="160000"/>
              </a:lnSpc>
            </a:pPr>
            <a:r>
              <a:rPr lang="en-US" sz="1800" dirty="0">
                <a:effectLst/>
                <a:latin typeface="Times New Roman" panose="02020603050405020304" pitchFamily="18" charset="0"/>
                <a:ea typeface="Times New Roman" panose="02020603050405020304" pitchFamily="18" charset="0"/>
              </a:rPr>
              <a:t>Monkeypox poses a significant public health challenge due to its increasing prevalence and potential for outbreaks. </a:t>
            </a:r>
          </a:p>
          <a:p>
            <a:pPr algn="just">
              <a:lnSpc>
                <a:spcPct val="160000"/>
              </a:lnSpc>
            </a:pPr>
            <a:r>
              <a:rPr lang="en-US" sz="1800" dirty="0">
                <a:effectLst/>
                <a:latin typeface="Times New Roman" panose="02020603050405020304" pitchFamily="18" charset="0"/>
                <a:ea typeface="Times New Roman" panose="02020603050405020304" pitchFamily="18" charset="0"/>
              </a:rPr>
              <a:t>Traditional diagnostic methods rely heavily on clinical expertise and laboratory tests, which are time-intensive, costly, and inaccessible in resource-limited settings. Misdiagnosis or delayed detection exacerbates the spread of the disease and hinders timely medical intervention. </a:t>
            </a:r>
          </a:p>
          <a:p>
            <a:pPr algn="just">
              <a:lnSpc>
                <a:spcPct val="160000"/>
              </a:lnSpc>
            </a:pPr>
            <a:r>
              <a:rPr lang="en-US" sz="1800" dirty="0">
                <a:effectLst/>
                <a:latin typeface="Times New Roman" panose="02020603050405020304" pitchFamily="18" charset="0"/>
                <a:ea typeface="Times New Roman" panose="02020603050405020304" pitchFamily="18" charset="0"/>
              </a:rPr>
              <a:t>The visual similarities of monkeypox to other skin conditions, such as chickenpox and measles, further complicate accurate diagnosis. Additionally, the lack of automated tools for early detection limits the ability to respond effectively to emerging cases. This underscores the urgent need for a reliable, efficient, and accessible diagnostic solution.</a:t>
            </a:r>
            <a:endParaRPr lang="en-IN" sz="1800" dirty="0">
              <a:effectLst/>
              <a:latin typeface="Times New Roman" panose="02020603050405020304" pitchFamily="18" charset="0"/>
              <a:ea typeface="Times New Roman" panose="02020603050405020304" pitchFamily="18" charset="0"/>
            </a:endParaRPr>
          </a:p>
          <a:p>
            <a:pPr algn="just">
              <a:lnSpc>
                <a:spcPct val="160000"/>
              </a:lnSpc>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a:t>
            </a:r>
            <a:endParaRPr lang="en-IN" dirty="0"/>
          </a:p>
        </p:txBody>
      </p:sp>
      <p:sp>
        <p:nvSpPr>
          <p:cNvPr id="3" name="Content Placeholder 2"/>
          <p:cNvSpPr>
            <a:spLocks noGrp="1"/>
          </p:cNvSpPr>
          <p:nvPr>
            <p:ph idx="1"/>
          </p:nvPr>
        </p:nvSpPr>
        <p:spPr>
          <a:xfrm>
            <a:off x="143943" y="1423332"/>
            <a:ext cx="10773993" cy="5127484"/>
          </a:xfrm>
        </p:spPr>
        <p:txBody>
          <a:bodyPr>
            <a:normAutofit/>
          </a:bodyPr>
          <a:lstStyle/>
          <a:p>
            <a:pPr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The primary objective of this study is to develop an automated system for detecting monkeypox using deep learning techniques, providing an accurate and efficient diagnostic tool. </a:t>
            </a:r>
          </a:p>
          <a:p>
            <a:pPr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Leveraging the VGG19 algorithm, a pre-trained convolutional neural network model, the project aims to classify skin images into categories, including monkeypox, chickenpox, measles, and normal conditions. </a:t>
            </a:r>
          </a:p>
          <a:p>
            <a:pPr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The dataset for training and testing the model is sourced from Kaggle, containing diverse and labeled skin images to ensure robust performance and reliability. Additionally, the project integrates a Flask web application to offer a user-friendly interface for image uploads and real-time predictions. </a:t>
            </a:r>
          </a:p>
          <a:p>
            <a:pPr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This solution is designed to enhance early detection accuracy, reduce diagnostic time, and facilitate accessible healthcare support in combating monkeypox outbreaks.</a:t>
            </a:r>
            <a:endParaRPr lang="en-IN" sz="1800" dirty="0">
              <a:effectLst/>
              <a:latin typeface="Times New Roman" panose="02020603050405020304" pitchFamily="18" charset="0"/>
              <a:ea typeface="Times New Roman" panose="02020603050405020304" pitchFamily="18" charset="0"/>
            </a:endParaRPr>
          </a:p>
          <a:p>
            <a:pPr algn="just">
              <a:lnSpc>
                <a:spcPct val="150000"/>
              </a:lnSpc>
              <a:buFont typeface="Wingdings" panose="05000000000000000000" pitchFamily="2" charset="2"/>
              <a:buChar char="Ø"/>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endParaRPr lang="en-IN" dirty="0"/>
          </a:p>
        </p:txBody>
      </p:sp>
      <p:graphicFrame>
        <p:nvGraphicFramePr>
          <p:cNvPr id="8" name="Content Placeholder 7">
            <a:extLst>
              <a:ext uri="{FF2B5EF4-FFF2-40B4-BE49-F238E27FC236}">
                <a16:creationId xmlns:a16="http://schemas.microsoft.com/office/drawing/2014/main" id="{1FE39529-F071-3612-E128-0E9F3A2483FA}"/>
              </a:ext>
            </a:extLst>
          </p:cNvPr>
          <p:cNvGraphicFramePr>
            <a:graphicFrameLocks noGrp="1"/>
          </p:cNvGraphicFramePr>
          <p:nvPr>
            <p:ph idx="1"/>
            <p:extLst>
              <p:ext uri="{D42A27DB-BD31-4B8C-83A1-F6EECF244321}">
                <p14:modId xmlns:p14="http://schemas.microsoft.com/office/powerpoint/2010/main" val="3879316981"/>
              </p:ext>
            </p:extLst>
          </p:nvPr>
        </p:nvGraphicFramePr>
        <p:xfrm>
          <a:off x="768095" y="1407078"/>
          <a:ext cx="11082156" cy="4998204"/>
        </p:xfrm>
        <a:graphic>
          <a:graphicData uri="http://schemas.openxmlformats.org/drawingml/2006/table">
            <a:tbl>
              <a:tblPr/>
              <a:tblGrid>
                <a:gridCol w="1847026">
                  <a:extLst>
                    <a:ext uri="{9D8B030D-6E8A-4147-A177-3AD203B41FA5}">
                      <a16:colId xmlns:a16="http://schemas.microsoft.com/office/drawing/2014/main" val="862269710"/>
                    </a:ext>
                  </a:extLst>
                </a:gridCol>
                <a:gridCol w="1847026">
                  <a:extLst>
                    <a:ext uri="{9D8B030D-6E8A-4147-A177-3AD203B41FA5}">
                      <a16:colId xmlns:a16="http://schemas.microsoft.com/office/drawing/2014/main" val="3441686065"/>
                    </a:ext>
                  </a:extLst>
                </a:gridCol>
                <a:gridCol w="1847026">
                  <a:extLst>
                    <a:ext uri="{9D8B030D-6E8A-4147-A177-3AD203B41FA5}">
                      <a16:colId xmlns:a16="http://schemas.microsoft.com/office/drawing/2014/main" val="63007915"/>
                    </a:ext>
                  </a:extLst>
                </a:gridCol>
                <a:gridCol w="1847026">
                  <a:extLst>
                    <a:ext uri="{9D8B030D-6E8A-4147-A177-3AD203B41FA5}">
                      <a16:colId xmlns:a16="http://schemas.microsoft.com/office/drawing/2014/main" val="950593202"/>
                    </a:ext>
                  </a:extLst>
                </a:gridCol>
                <a:gridCol w="1847026">
                  <a:extLst>
                    <a:ext uri="{9D8B030D-6E8A-4147-A177-3AD203B41FA5}">
                      <a16:colId xmlns:a16="http://schemas.microsoft.com/office/drawing/2014/main" val="2285552574"/>
                    </a:ext>
                  </a:extLst>
                </a:gridCol>
                <a:gridCol w="1847026">
                  <a:extLst>
                    <a:ext uri="{9D8B030D-6E8A-4147-A177-3AD203B41FA5}">
                      <a16:colId xmlns:a16="http://schemas.microsoft.com/office/drawing/2014/main" val="1647728944"/>
                    </a:ext>
                  </a:extLst>
                </a:gridCol>
              </a:tblGrid>
              <a:tr h="531157">
                <a:tc>
                  <a:txBody>
                    <a:bodyPr/>
                    <a:lstStyle/>
                    <a:p>
                      <a:r>
                        <a:rPr lang="en-IN" sz="1400" b="1" dirty="0" err="1">
                          <a:solidFill>
                            <a:schemeClr val="bg1"/>
                          </a:solidFill>
                        </a:rPr>
                        <a:t>Sl</a:t>
                      </a:r>
                      <a:r>
                        <a:rPr lang="en-IN" sz="1400" b="1" dirty="0">
                          <a:solidFill>
                            <a:schemeClr val="bg1"/>
                          </a:solidFill>
                        </a:rPr>
                        <a:t> No</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b="1">
                          <a:solidFill>
                            <a:schemeClr val="bg1"/>
                          </a:solidFill>
                        </a:rPr>
                        <a:t>Name of Author</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b="1">
                          <a:solidFill>
                            <a:schemeClr val="bg1"/>
                          </a:solidFill>
                        </a:rPr>
                        <a:t>Title of Paper</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b="1">
                          <a:solidFill>
                            <a:schemeClr val="bg1"/>
                          </a:solidFill>
                        </a:rPr>
                        <a:t>Methods</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b="1">
                          <a:solidFill>
                            <a:schemeClr val="bg1"/>
                          </a:solidFill>
                        </a:rPr>
                        <a:t>Results</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b="1" dirty="0">
                          <a:solidFill>
                            <a:schemeClr val="bg1"/>
                          </a:solidFill>
                        </a:rPr>
                        <a:t>Remarks with Respect to the Project</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243751919"/>
                  </a:ext>
                </a:extLst>
              </a:tr>
              <a:tr h="4330974">
                <a:tc>
                  <a:txBody>
                    <a:bodyPr/>
                    <a:lstStyle/>
                    <a:p>
                      <a:r>
                        <a:rPr lang="en-IN" sz="1400" dirty="0">
                          <a:solidFill>
                            <a:schemeClr val="bg1"/>
                          </a:solidFill>
                        </a:rPr>
                        <a:t>1</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dirty="0">
                          <a:solidFill>
                            <a:schemeClr val="bg1"/>
                          </a:solidFill>
                        </a:rPr>
                        <a:t>X. Zhang, Y. Li, and Z. Wang</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dirty="0">
                          <a:solidFill>
                            <a:schemeClr val="bg1"/>
                          </a:solidFill>
                        </a:rPr>
                        <a:t>A Traditional Image Processing Method for Disease Detection</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dirty="0">
                          <a:solidFill>
                            <a:schemeClr val="bg1"/>
                          </a:solidFill>
                        </a:rPr>
                        <a:t>Applied traditional image processing techniques like thresholding, edge detection, and feature extraction to classify skin diseases, including monkeypox.</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dirty="0">
                          <a:solidFill>
                            <a:schemeClr val="bg1"/>
                          </a:solidFill>
                        </a:rPr>
                        <a:t>The method achieved moderate accuracy but struggled with complex skin conditions and noisy images, leading to higher false positives and negatives.</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400" dirty="0">
                          <a:solidFill>
                            <a:schemeClr val="bg1"/>
                          </a:solidFill>
                        </a:rPr>
                        <a:t>Traditional methods based on manual feature extraction are limited in accuracy and adaptability. The deep learning-based approach using CNN (VGG19) offers superior accuracy by automatically learning relevant features, improving performance, and handling complex images more effectively.</a:t>
                      </a:r>
                    </a:p>
                  </a:txBody>
                  <a:tcPr marL="27151" marR="27151" marT="13575" marB="13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9366401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Continues</a:t>
            </a:r>
            <a:endParaRPr lang="en-IN" dirty="0"/>
          </a:p>
        </p:txBody>
      </p:sp>
      <p:graphicFrame>
        <p:nvGraphicFramePr>
          <p:cNvPr id="4" name="Content Placeholder 3">
            <a:extLst>
              <a:ext uri="{FF2B5EF4-FFF2-40B4-BE49-F238E27FC236}">
                <a16:creationId xmlns:a16="http://schemas.microsoft.com/office/drawing/2014/main" id="{11F7B071-3AE6-1639-A82F-2B5336854D50}"/>
              </a:ext>
            </a:extLst>
          </p:cNvPr>
          <p:cNvGraphicFramePr>
            <a:graphicFrameLocks noGrp="1"/>
          </p:cNvGraphicFramePr>
          <p:nvPr>
            <p:ph idx="1"/>
            <p:extLst>
              <p:ext uri="{D42A27DB-BD31-4B8C-83A1-F6EECF244321}">
                <p14:modId xmlns:p14="http://schemas.microsoft.com/office/powerpoint/2010/main" val="2050420158"/>
              </p:ext>
            </p:extLst>
          </p:nvPr>
        </p:nvGraphicFramePr>
        <p:xfrm>
          <a:off x="840507" y="1477819"/>
          <a:ext cx="10705380" cy="4756726"/>
        </p:xfrm>
        <a:graphic>
          <a:graphicData uri="http://schemas.openxmlformats.org/drawingml/2006/table">
            <a:tbl>
              <a:tblPr/>
              <a:tblGrid>
                <a:gridCol w="1784230">
                  <a:extLst>
                    <a:ext uri="{9D8B030D-6E8A-4147-A177-3AD203B41FA5}">
                      <a16:colId xmlns:a16="http://schemas.microsoft.com/office/drawing/2014/main" val="3024225689"/>
                    </a:ext>
                  </a:extLst>
                </a:gridCol>
                <a:gridCol w="1784230">
                  <a:extLst>
                    <a:ext uri="{9D8B030D-6E8A-4147-A177-3AD203B41FA5}">
                      <a16:colId xmlns:a16="http://schemas.microsoft.com/office/drawing/2014/main" val="2274555575"/>
                    </a:ext>
                  </a:extLst>
                </a:gridCol>
                <a:gridCol w="1784230">
                  <a:extLst>
                    <a:ext uri="{9D8B030D-6E8A-4147-A177-3AD203B41FA5}">
                      <a16:colId xmlns:a16="http://schemas.microsoft.com/office/drawing/2014/main" val="1187150580"/>
                    </a:ext>
                  </a:extLst>
                </a:gridCol>
                <a:gridCol w="1784230">
                  <a:extLst>
                    <a:ext uri="{9D8B030D-6E8A-4147-A177-3AD203B41FA5}">
                      <a16:colId xmlns:a16="http://schemas.microsoft.com/office/drawing/2014/main" val="1640238380"/>
                    </a:ext>
                  </a:extLst>
                </a:gridCol>
                <a:gridCol w="1784230">
                  <a:extLst>
                    <a:ext uri="{9D8B030D-6E8A-4147-A177-3AD203B41FA5}">
                      <a16:colId xmlns:a16="http://schemas.microsoft.com/office/drawing/2014/main" val="677005496"/>
                    </a:ext>
                  </a:extLst>
                </a:gridCol>
                <a:gridCol w="1784230">
                  <a:extLst>
                    <a:ext uri="{9D8B030D-6E8A-4147-A177-3AD203B41FA5}">
                      <a16:colId xmlns:a16="http://schemas.microsoft.com/office/drawing/2014/main" val="3966397289"/>
                    </a:ext>
                  </a:extLst>
                </a:gridCol>
              </a:tblGrid>
              <a:tr h="630995">
                <a:tc>
                  <a:txBody>
                    <a:bodyPr/>
                    <a:lstStyle/>
                    <a:p>
                      <a:r>
                        <a:rPr lang="en-IN" sz="1200" b="1" dirty="0" err="1">
                          <a:solidFill>
                            <a:schemeClr val="bg1"/>
                          </a:solidFill>
                        </a:rPr>
                        <a:t>Sl</a:t>
                      </a:r>
                      <a:r>
                        <a:rPr lang="en-IN" sz="1200" b="1" dirty="0">
                          <a:solidFill>
                            <a:schemeClr val="bg1"/>
                          </a:solidFill>
                        </a:rPr>
                        <a:t> No</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b="1">
                          <a:solidFill>
                            <a:schemeClr val="bg1"/>
                          </a:solidFill>
                        </a:rPr>
                        <a:t>Name of Author</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b="1">
                          <a:solidFill>
                            <a:schemeClr val="bg1"/>
                          </a:solidFill>
                        </a:rPr>
                        <a:t>Title of Paper</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b="1">
                          <a:solidFill>
                            <a:schemeClr val="bg1"/>
                          </a:solidFill>
                        </a:rPr>
                        <a:t>Methods</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b="1">
                          <a:solidFill>
                            <a:schemeClr val="bg1"/>
                          </a:solidFill>
                        </a:rPr>
                        <a:t>Results</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b="1" dirty="0">
                          <a:solidFill>
                            <a:schemeClr val="bg1"/>
                          </a:solidFill>
                        </a:rPr>
                        <a:t>Remarks with Respect to the Project</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237330381"/>
                  </a:ext>
                </a:extLst>
              </a:tr>
              <a:tr h="4125731">
                <a:tc>
                  <a:txBody>
                    <a:bodyPr/>
                    <a:lstStyle/>
                    <a:p>
                      <a:r>
                        <a:rPr lang="en-IN" sz="1200" dirty="0">
                          <a:solidFill>
                            <a:schemeClr val="bg1"/>
                          </a:solidFill>
                        </a:rPr>
                        <a:t>2</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dirty="0">
                          <a:solidFill>
                            <a:schemeClr val="bg1"/>
                          </a:solidFill>
                        </a:rPr>
                        <a:t>D. Kumar, R. Gupta</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dirty="0">
                          <a:solidFill>
                            <a:schemeClr val="bg1"/>
                          </a:solidFill>
                        </a:rPr>
                        <a:t>Rule-Based System for Skin Disease Classification</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dirty="0">
                          <a:solidFill>
                            <a:schemeClr val="bg1"/>
                          </a:solidFill>
                        </a:rPr>
                        <a:t>Used a rule-based system to classify skin diseases based on predefined symptom patterns and image features.</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a:solidFill>
                            <a:schemeClr val="bg1"/>
                          </a:solidFill>
                        </a:rPr>
                        <a:t>The rule-based system worked in controlled scenarios but failed to generalize well across varied skin conditions, particularly for diseases with similar symptoms.</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IN" sz="1200" dirty="0">
                          <a:solidFill>
                            <a:schemeClr val="bg1"/>
                          </a:solidFill>
                        </a:rPr>
                        <a:t>Rule-based systems are limited by predefined rules and lack flexibility. The deep learning model offers better generalization, capable of distinguishing between similar conditions like monkeypox and measles, making it more robust and accurate.</a:t>
                      </a:r>
                    </a:p>
                  </a:txBody>
                  <a:tcPr marL="25493" marR="25493" marT="12747" marB="127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5221862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endParaRPr lang="en-IN" dirty="0"/>
          </a:p>
        </p:txBody>
      </p:sp>
      <p:sp>
        <p:nvSpPr>
          <p:cNvPr id="3" name="Content Placeholder 2"/>
          <p:cNvSpPr>
            <a:spLocks noGrp="1"/>
          </p:cNvSpPr>
          <p:nvPr>
            <p:ph idx="1"/>
          </p:nvPr>
        </p:nvSpPr>
        <p:spPr>
          <a:xfrm>
            <a:off x="646112" y="1454046"/>
            <a:ext cx="9576880" cy="4794353"/>
          </a:xfrm>
        </p:spPr>
        <p:txBody>
          <a:bodyPr>
            <a:normAutofit fontScale="92500"/>
          </a:bodyPr>
          <a:lstStyle/>
          <a:p>
            <a:pPr algn="just">
              <a:lnSpc>
                <a:spcPct val="150000"/>
              </a:lnSpc>
            </a:pPr>
            <a:r>
              <a:rPr lang="en-US" sz="1800" b="1" dirty="0">
                <a:effectLst/>
                <a:latin typeface="Times New Roman" panose="02020603050405020304" pitchFamily="18" charset="0"/>
                <a:ea typeface="Times New Roman" panose="02020603050405020304" pitchFamily="18" charset="0"/>
              </a:rPr>
              <a:t>1)Dataset Collection and Preprocessing: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A labeled dataset for skin conditions, including monkeypox, chickenpox, measles, and normal skin images, was sourced from Kaggle. The images were resized to 224x224 pixels to ensure compatibility with the input requirements of the VGG19 model. Data augmentation techniques, such as rotation, zoom, and horizontal flipping, were applied to enhance model robustness and mitigate overfitting.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Times New Roman" panose="02020603050405020304" pitchFamily="18" charset="0"/>
              </a:rPr>
              <a:t>2) Model Selection and Training: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The VGG19 architecture, pre-trained on the ImageNet dataset, was utilized for feature extraction. The top layers of the model were replaced with a custom fully connected layer and a </a:t>
            </a:r>
            <a:r>
              <a:rPr lang="en-US" sz="1800" dirty="0" err="1">
                <a:effectLst/>
                <a:latin typeface="Times New Roman" panose="02020603050405020304" pitchFamily="18" charset="0"/>
                <a:ea typeface="Times New Roman" panose="02020603050405020304" pitchFamily="18" charset="0"/>
              </a:rPr>
              <a:t>softmax</a:t>
            </a:r>
            <a:r>
              <a:rPr lang="en-US" sz="1800" dirty="0">
                <a:effectLst/>
                <a:latin typeface="Times New Roman" panose="02020603050405020304" pitchFamily="18" charset="0"/>
                <a:ea typeface="Times New Roman" panose="02020603050405020304" pitchFamily="18" charset="0"/>
              </a:rPr>
              <a:t> activation layer to classify four categories. The model was fine-tuned with a categorical cross-entropy loss function and an Adam optimizer for optimal performance. The training process included validation to monitor performance and avoid overfitting.</a:t>
            </a:r>
            <a:endParaRPr lang="en-IN" sz="1800" dirty="0">
              <a:effectLst/>
              <a:latin typeface="Times New Roman" panose="02020603050405020304" pitchFamily="18" charset="0"/>
              <a:ea typeface="Times New Roman" panose="02020603050405020304" pitchFamily="18" charset="0"/>
            </a:endParaRPr>
          </a:p>
          <a:p>
            <a:pPr algn="just">
              <a:lnSpc>
                <a:spcPct val="160000"/>
              </a:lnSpc>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ADD87-B0C2-0CD7-2347-F3DE4A463CA6}"/>
              </a:ext>
            </a:extLst>
          </p:cNvPr>
          <p:cNvSpPr>
            <a:spLocks noGrp="1"/>
          </p:cNvSpPr>
          <p:nvPr>
            <p:ph type="title"/>
          </p:nvPr>
        </p:nvSpPr>
        <p:spPr/>
        <p:txBody>
          <a:bodyPr/>
          <a:lstStyle/>
          <a:p>
            <a:r>
              <a:rPr lang="en-US" dirty="0"/>
              <a:t>Continues</a:t>
            </a:r>
            <a:endParaRPr lang="en-IN" dirty="0"/>
          </a:p>
        </p:txBody>
      </p:sp>
      <p:sp>
        <p:nvSpPr>
          <p:cNvPr id="3" name="Content Placeholder 2">
            <a:extLst>
              <a:ext uri="{FF2B5EF4-FFF2-40B4-BE49-F238E27FC236}">
                <a16:creationId xmlns:a16="http://schemas.microsoft.com/office/drawing/2014/main" id="{A9EAFADD-459B-BF50-AC48-88402118B896}"/>
              </a:ext>
            </a:extLst>
          </p:cNvPr>
          <p:cNvSpPr>
            <a:spLocks noGrp="1"/>
          </p:cNvSpPr>
          <p:nvPr>
            <p:ph idx="1"/>
          </p:nvPr>
        </p:nvSpPr>
        <p:spPr>
          <a:xfrm>
            <a:off x="1103312" y="1472184"/>
            <a:ext cx="8946541" cy="4776215"/>
          </a:xfrm>
        </p:spPr>
        <p:txBody>
          <a:bodyPr/>
          <a:lstStyle/>
          <a:p>
            <a:pPr algn="just">
              <a:lnSpc>
                <a:spcPct val="150000"/>
              </a:lnSpc>
            </a:pPr>
            <a:r>
              <a:rPr lang="en-US" sz="1800" b="1" dirty="0">
                <a:effectLst/>
                <a:latin typeface="Times New Roman" panose="02020603050405020304" pitchFamily="18" charset="0"/>
                <a:ea typeface="Times New Roman" panose="02020603050405020304" pitchFamily="18" charset="0"/>
              </a:rPr>
              <a:t>3)Flask Web Application Development:</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A Flask-based web application was created to provide a user-friendly interface for image uploads and result visualization. The application processes uploaded images, passes them through the trained model, and displays predictions along with the probability scores.</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Times New Roman" panose="02020603050405020304" pitchFamily="18" charset="0"/>
              </a:rPr>
              <a:t>4)Integration of Cause and Treatment Information:</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The system maps predictions to a predefined dictionary containing the causes and recommended treatments for each condition. This feature provides actionable insights to the user, bridging the gap between detection and informed decision-making.</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537851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53953-7114-6090-454A-EEFD37F9996F}"/>
              </a:ext>
            </a:extLst>
          </p:cNvPr>
          <p:cNvSpPr>
            <a:spLocks noGrp="1"/>
          </p:cNvSpPr>
          <p:nvPr>
            <p:ph type="title"/>
          </p:nvPr>
        </p:nvSpPr>
        <p:spPr/>
        <p:txBody>
          <a:bodyPr/>
          <a:lstStyle/>
          <a:p>
            <a:r>
              <a:rPr lang="en-US" dirty="0"/>
              <a:t>Continues</a:t>
            </a:r>
            <a:endParaRPr lang="en-IN" dirty="0"/>
          </a:p>
        </p:txBody>
      </p:sp>
      <p:sp>
        <p:nvSpPr>
          <p:cNvPr id="3" name="Content Placeholder 2">
            <a:extLst>
              <a:ext uri="{FF2B5EF4-FFF2-40B4-BE49-F238E27FC236}">
                <a16:creationId xmlns:a16="http://schemas.microsoft.com/office/drawing/2014/main" id="{5A3559DE-B07D-886B-0AD1-FAEF83EAFAC1}"/>
              </a:ext>
            </a:extLst>
          </p:cNvPr>
          <p:cNvSpPr>
            <a:spLocks noGrp="1"/>
          </p:cNvSpPr>
          <p:nvPr>
            <p:ph idx="1"/>
          </p:nvPr>
        </p:nvSpPr>
        <p:spPr>
          <a:xfrm>
            <a:off x="1103312" y="1508760"/>
            <a:ext cx="8946541" cy="4739639"/>
          </a:xfrm>
        </p:spPr>
        <p:txBody>
          <a:bodyPr>
            <a:normAutofit fontScale="92500" lnSpcReduction="10000"/>
          </a:bodyPr>
          <a:lstStyle/>
          <a:p>
            <a:pPr algn="just">
              <a:lnSpc>
                <a:spcPct val="150000"/>
              </a:lnSpc>
            </a:pPr>
            <a:r>
              <a:rPr lang="en-US" sz="1800" b="1" dirty="0">
                <a:effectLst/>
                <a:latin typeface="Times New Roman" panose="02020603050405020304" pitchFamily="18" charset="0"/>
                <a:ea typeface="Times New Roman" panose="02020603050405020304" pitchFamily="18" charset="0"/>
              </a:rPr>
              <a:t>5)Evaluation and Testing: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The model's performance was evaluated using metrics such as accuracy, precision, recall, and F1-score. Confusion matrices were plotted to analyze classification performance across categories. The system was tested with unseen images to validate its generalizability and reliability.</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Times New Roman" panose="02020603050405020304" pitchFamily="18" charset="0"/>
              </a:rPr>
              <a:t>6)Deployment and Use Case Testing: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The trained model and web application were deployed to a production environment. Real-world testing scenarios ensured the application’s readiness for practical use.</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Times New Roman" panose="02020603050405020304" pitchFamily="18" charset="0"/>
              </a:rPr>
              <a:t>7)Email Notification System</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To enhance responsiveness, an email notification feature was integrated into the application. When the model detects monkeypox in an uploaded image, automated emails are sent to predefined addresses, alerting users or medical professionals to take immediate action. </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620887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Discussion</a:t>
            </a:r>
            <a:endParaRPr lang="en-IN" dirty="0"/>
          </a:p>
        </p:txBody>
      </p:sp>
      <p:pic>
        <p:nvPicPr>
          <p:cNvPr id="4" name="Content Placeholder 3" descr="A screenshot of a computer&#10;&#10;Description automatically generated">
            <a:extLst>
              <a:ext uri="{FF2B5EF4-FFF2-40B4-BE49-F238E27FC236}">
                <a16:creationId xmlns:a16="http://schemas.microsoft.com/office/drawing/2014/main" id="{15B1A3F3-69D0-55C8-B303-846239A93B4C}"/>
              </a:ext>
            </a:extLst>
          </p:cNvPr>
          <p:cNvPicPr>
            <a:picLocks noGrp="1" noChangeAspect="1"/>
          </p:cNvPicPr>
          <p:nvPr>
            <p:ph idx="1"/>
          </p:nvPr>
        </p:nvPicPr>
        <p:blipFill>
          <a:blip r:embed="rId2"/>
          <a:stretch>
            <a:fillRect/>
          </a:stretch>
        </p:blipFill>
        <p:spPr>
          <a:xfrm>
            <a:off x="2504250" y="1682701"/>
            <a:ext cx="6923087" cy="3894236"/>
          </a:xfrm>
          <a:prstGeom prst="rect">
            <a:avLst/>
          </a:prstGeom>
        </p:spPr>
      </p:pic>
      <p:sp>
        <p:nvSpPr>
          <p:cNvPr id="7" name="TextBox 6">
            <a:extLst>
              <a:ext uri="{FF2B5EF4-FFF2-40B4-BE49-F238E27FC236}">
                <a16:creationId xmlns:a16="http://schemas.microsoft.com/office/drawing/2014/main" id="{FB4A7408-C605-4FE5-6567-52DF617605F4}"/>
              </a:ext>
            </a:extLst>
          </p:cNvPr>
          <p:cNvSpPr txBox="1"/>
          <p:nvPr/>
        </p:nvSpPr>
        <p:spPr>
          <a:xfrm>
            <a:off x="3185962" y="5764771"/>
            <a:ext cx="6097604" cy="873572"/>
          </a:xfrm>
          <a:prstGeom prst="rect">
            <a:avLst/>
          </a:prstGeom>
          <a:noFill/>
        </p:spPr>
        <p:txBody>
          <a:bodyPr wrap="square">
            <a:spAutoFit/>
          </a:bodyPr>
          <a:lstStyle/>
          <a:p>
            <a:pPr algn="ctr">
              <a:lnSpc>
                <a:spcPct val="150000"/>
              </a:lnSpc>
              <a:spcBef>
                <a:spcPts val="310"/>
              </a:spcBef>
              <a:tabLst>
                <a:tab pos="346710" algn="l"/>
              </a:tabLst>
            </a:pPr>
            <a:r>
              <a:rPr lang="en-US" sz="1800" b="1" dirty="0">
                <a:effectLst/>
                <a:latin typeface="Times New Roman" panose="02020603050405020304" pitchFamily="18" charset="0"/>
                <a:ea typeface="Times New Roman" panose="02020603050405020304" pitchFamily="18" charset="0"/>
              </a:rPr>
              <a:t>Fig</a:t>
            </a:r>
            <a:r>
              <a:rPr lang="en-US" b="1" dirty="0">
                <a:latin typeface="Times New Roman" panose="02020603050405020304" pitchFamily="18" charset="0"/>
                <a:ea typeface="Times New Roman" panose="02020603050405020304" pitchFamily="18" charset="0"/>
              </a:rPr>
              <a:t>ure :</a:t>
            </a:r>
            <a:r>
              <a:rPr lang="en-US" sz="1800" b="1" dirty="0">
                <a:effectLst/>
                <a:latin typeface="Times New Roman" panose="02020603050405020304" pitchFamily="18" charset="0"/>
                <a:ea typeface="Times New Roman" panose="02020603050405020304" pitchFamily="18" charset="0"/>
              </a:rPr>
              <a:t> Predicted Result as Monkeypox with cause, treatment and accuracy</a:t>
            </a:r>
            <a:endParaRPr lang="en-IN"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endParaRPr lang="en-IN" dirty="0"/>
          </a:p>
        </p:txBody>
      </p:sp>
      <p:sp>
        <p:nvSpPr>
          <p:cNvPr id="6" name="TextBox 5"/>
          <p:cNvSpPr txBox="1"/>
          <p:nvPr/>
        </p:nvSpPr>
        <p:spPr>
          <a:xfrm>
            <a:off x="2695338" y="5947208"/>
            <a:ext cx="6093500" cy="873572"/>
          </a:xfrm>
          <a:prstGeom prst="rect">
            <a:avLst/>
          </a:prstGeom>
          <a:noFill/>
        </p:spPr>
        <p:txBody>
          <a:bodyPr wrap="square">
            <a:spAutoFit/>
          </a:bodyPr>
          <a:lstStyle/>
          <a:p>
            <a:pPr marL="1759585" marR="1710690" algn="ctr">
              <a:lnSpc>
                <a:spcPct val="150000"/>
              </a:lnSpc>
              <a:spcBef>
                <a:spcPts val="795"/>
              </a:spcBef>
              <a:spcAft>
                <a:spcPts val="0"/>
              </a:spcAft>
            </a:pPr>
            <a:r>
              <a:rPr lang="en-US" sz="1800" b="1" dirty="0">
                <a:effectLst/>
                <a:latin typeface="Times New Roman" panose="02020603050405020304" pitchFamily="18" charset="0"/>
                <a:ea typeface="Times New Roman" panose="02020603050405020304" pitchFamily="18" charset="0"/>
              </a:rPr>
              <a:t>Fig : </a:t>
            </a:r>
            <a:r>
              <a:rPr lang="en-US" b="1" dirty="0">
                <a:latin typeface="Times New Roman" panose="02020603050405020304" pitchFamily="18" charset="0"/>
                <a:ea typeface="Times New Roman" panose="02020603050405020304" pitchFamily="18" charset="0"/>
              </a:rPr>
              <a:t>Predicted Analysis Graph</a:t>
            </a:r>
            <a:endParaRPr lang="en-IN"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45B54DEF-16BB-A3CD-1A78-709CA45C648C}"/>
              </a:ext>
            </a:extLst>
          </p:cNvPr>
          <p:cNvPicPr>
            <a:picLocks noChangeAspect="1"/>
          </p:cNvPicPr>
          <p:nvPr/>
        </p:nvPicPr>
        <p:blipFill>
          <a:blip r:embed="rId2"/>
          <a:stretch>
            <a:fillRect/>
          </a:stretch>
        </p:blipFill>
        <p:spPr>
          <a:xfrm>
            <a:off x="2068014" y="1687830"/>
            <a:ext cx="7286298" cy="409826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3" name="Content Placeholder 2"/>
          <p:cNvSpPr>
            <a:spLocks noGrp="1"/>
          </p:cNvSpPr>
          <p:nvPr>
            <p:ph idx="1"/>
          </p:nvPr>
        </p:nvSpPr>
        <p:spPr>
          <a:xfrm>
            <a:off x="278853" y="1330597"/>
            <a:ext cx="7066327" cy="5355016"/>
          </a:xfrm>
        </p:spPr>
        <p:txBody>
          <a:bodyPr>
            <a:normAutofit fontScale="92500"/>
          </a:bodyPr>
          <a:lstStyle/>
          <a:p>
            <a:pPr algn="just">
              <a:lnSpc>
                <a:spcPct val="150000"/>
              </a:lnSpc>
            </a:pPr>
            <a:r>
              <a:rPr lang="en-IN" sz="1800" spc="-35" dirty="0">
                <a:effectLst/>
                <a:latin typeface="Times New Roman" panose="02020603050405020304" pitchFamily="18" charset="0"/>
                <a:ea typeface="Times New Roman" panose="02020603050405020304" pitchFamily="18" charset="0"/>
              </a:rPr>
              <a:t>The project successfully developed an automated system for detecting monkeypox and similar skin conditions using deep learning techniques.</a:t>
            </a:r>
          </a:p>
          <a:p>
            <a:pPr algn="just">
              <a:lnSpc>
                <a:spcPct val="150000"/>
              </a:lnSpc>
            </a:pPr>
            <a:r>
              <a:rPr lang="en-IN" sz="1800" spc="-35" dirty="0">
                <a:effectLst/>
                <a:latin typeface="Times New Roman" panose="02020603050405020304" pitchFamily="18" charset="0"/>
                <a:ea typeface="Times New Roman" panose="02020603050405020304" pitchFamily="18" charset="0"/>
              </a:rPr>
              <a:t> By leveraging the VGG19 convolutional neural network (CNN), pre-trained on the ImageNet dataset and fine-tuned for this task, the system efficiently classifies images into categories such as monkeypox, chickenpox, measles, and normal skin conditions. </a:t>
            </a:r>
          </a:p>
          <a:p>
            <a:pPr algn="just">
              <a:lnSpc>
                <a:spcPct val="150000"/>
              </a:lnSpc>
            </a:pPr>
            <a:r>
              <a:rPr lang="en-IN" sz="1800" spc="-35" dirty="0">
                <a:effectLst/>
                <a:latin typeface="Times New Roman" panose="02020603050405020304" pitchFamily="18" charset="0"/>
                <a:ea typeface="Times New Roman" panose="02020603050405020304" pitchFamily="18" charset="0"/>
              </a:rPr>
              <a:t>Advanced image preprocessing, data augmentation, and transfer learning were employed to ensure high accuracy and generalizability. The system was integrated into a user-friendly web application built with Flask, allowing healthcare providers and users to upload images for real-time predictions.</a:t>
            </a:r>
          </a:p>
          <a:p>
            <a:pPr algn="just">
              <a:lnSpc>
                <a:spcPct val="150000"/>
              </a:lnSpc>
            </a:pPr>
            <a:r>
              <a:rPr lang="en-IN" sz="1800" spc="-35" dirty="0">
                <a:effectLst/>
                <a:latin typeface="Times New Roman" panose="02020603050405020304" pitchFamily="18" charset="0"/>
                <a:ea typeface="Times New Roman" panose="02020603050405020304" pitchFamily="18" charset="0"/>
              </a:rPr>
              <a:t>The results showed that the system performs reliably, accurately identifying monkeypox and differentiating it from other skin conditions. </a:t>
            </a:r>
            <a:endParaRPr lang="en-IN" dirty="0"/>
          </a:p>
        </p:txBody>
      </p:sp>
      <p:pic>
        <p:nvPicPr>
          <p:cNvPr id="5" name="Picture 4"/>
          <p:cNvPicPr>
            <a:picLocks noChangeAspect="1"/>
          </p:cNvPicPr>
          <p:nvPr/>
        </p:nvPicPr>
        <p:blipFill>
          <a:blip r:embed="rId2"/>
          <a:stretch>
            <a:fillRect/>
          </a:stretch>
        </p:blipFill>
        <p:spPr>
          <a:xfrm>
            <a:off x="7836393" y="1004341"/>
            <a:ext cx="3960866" cy="48479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endParaRPr lang="en-IN" dirty="0"/>
          </a:p>
        </p:txBody>
      </p:sp>
      <p:sp>
        <p:nvSpPr>
          <p:cNvPr id="3" name="Content Placeholder 2"/>
          <p:cNvSpPr>
            <a:spLocks noGrp="1"/>
          </p:cNvSpPr>
          <p:nvPr>
            <p:ph idx="1"/>
          </p:nvPr>
        </p:nvSpPr>
        <p:spPr>
          <a:xfrm>
            <a:off x="646111" y="1513272"/>
            <a:ext cx="6818992" cy="4602715"/>
          </a:xfrm>
        </p:spPr>
        <p:txBody>
          <a:bodyPr>
            <a:normAutofit/>
          </a:bodyPr>
          <a:lstStyle/>
          <a:p>
            <a:pPr marL="285115" algn="just">
              <a:lnSpc>
                <a:spcPct val="150000"/>
              </a:lnSpc>
              <a:spcBef>
                <a:spcPts val="315"/>
              </a:spcBef>
              <a:tabLst>
                <a:tab pos="1038860" algn="l"/>
              </a:tabLst>
            </a:pPr>
            <a:r>
              <a:rPr lang="en-IN" sz="1800" b="0" kern="0" dirty="0">
                <a:effectLst/>
                <a:latin typeface="Times New Roman" panose="02020603050405020304" pitchFamily="18" charset="0"/>
                <a:ea typeface="Times New Roman" panose="02020603050405020304" pitchFamily="18" charset="0"/>
              </a:rPr>
              <a:t>[1]Monkeypox Outbreaks and AI Solutions for Early Detection by John D. Smith, Clara Lee, and Michael Brown, 2023.</a:t>
            </a:r>
            <a:endParaRPr lang="en-IN" sz="18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1800" b="0" kern="0" dirty="0">
                <a:effectLst/>
                <a:latin typeface="Times New Roman" panose="02020603050405020304" pitchFamily="18" charset="0"/>
                <a:ea typeface="Times New Roman" panose="02020603050405020304" pitchFamily="18" charset="0"/>
              </a:rPr>
              <a:t>[2] Deep Learning for Viral Disease Detection: A Comprehensive Study by Aisha Khan and Robert Taylor, 2021.</a:t>
            </a:r>
            <a:endParaRPr lang="en-IN" sz="18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1800" b="0" kern="0" dirty="0">
                <a:effectLst/>
                <a:latin typeface="Times New Roman" panose="02020603050405020304" pitchFamily="18" charset="0"/>
                <a:ea typeface="Times New Roman" panose="02020603050405020304" pitchFamily="18" charset="0"/>
              </a:rPr>
              <a:t>[3]Automated Diagnosis of Skin Lesions Using CNNs by Priya Sharma and Ankit Patel, 2020.</a:t>
            </a:r>
            <a:endParaRPr lang="en-IN" sz="18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1800" b="0" kern="0" dirty="0">
                <a:effectLst/>
                <a:latin typeface="Times New Roman" panose="02020603050405020304" pitchFamily="18" charset="0"/>
                <a:ea typeface="Times New Roman" panose="02020603050405020304" pitchFamily="18" charset="0"/>
              </a:rPr>
              <a:t>[4] AI in Public Health: Combatting Monkeypox with Technology by Elena Garcia and Mark Robinson, 2022.</a:t>
            </a:r>
            <a:endParaRPr lang="en-IN" sz="18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1800" b="0" kern="0" dirty="0">
                <a:effectLst/>
                <a:latin typeface="Times New Roman" panose="02020603050405020304" pitchFamily="18" charset="0"/>
                <a:ea typeface="Times New Roman" panose="02020603050405020304" pitchFamily="18" charset="0"/>
              </a:rPr>
              <a:t>[5]Transfer Learning for Rare Disease Detection by Wei Liu and David Kim, 2019.</a:t>
            </a:r>
            <a:endParaRPr lang="en-IN" sz="1800" b="1" kern="0" dirty="0">
              <a:effectLst/>
              <a:latin typeface="Times New Roman" panose="02020603050405020304" pitchFamily="18" charset="0"/>
              <a:ea typeface="Times New Roman" panose="02020603050405020304" pitchFamily="18" charset="0"/>
            </a:endParaRPr>
          </a:p>
          <a:p>
            <a:pPr algn="just">
              <a:lnSpc>
                <a:spcPct val="170000"/>
              </a:lnSpc>
            </a:pPr>
            <a:endParaRPr lang="en-IN" dirty="0"/>
          </a:p>
        </p:txBody>
      </p:sp>
      <p:pic>
        <p:nvPicPr>
          <p:cNvPr id="17410" name="Picture 2" descr="Project 4 Referen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9837" y="804582"/>
            <a:ext cx="3897442" cy="5600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197F-E05D-7C40-FD43-5D5547BF5662}"/>
              </a:ext>
            </a:extLst>
          </p:cNvPr>
          <p:cNvSpPr>
            <a:spLocks noGrp="1"/>
          </p:cNvSpPr>
          <p:nvPr>
            <p:ph type="title"/>
          </p:nvPr>
        </p:nvSpPr>
        <p:spPr/>
        <p:txBody>
          <a:bodyPr/>
          <a:lstStyle/>
          <a:p>
            <a:r>
              <a:rPr lang="en-US" dirty="0"/>
              <a:t>Continues</a:t>
            </a:r>
            <a:endParaRPr lang="en-IN" dirty="0"/>
          </a:p>
        </p:txBody>
      </p:sp>
      <p:sp>
        <p:nvSpPr>
          <p:cNvPr id="3" name="Content Placeholder 2">
            <a:extLst>
              <a:ext uri="{FF2B5EF4-FFF2-40B4-BE49-F238E27FC236}">
                <a16:creationId xmlns:a16="http://schemas.microsoft.com/office/drawing/2014/main" id="{FF4E26D1-97C8-DEF1-0E3D-3FAD9A499F1D}"/>
              </a:ext>
            </a:extLst>
          </p:cNvPr>
          <p:cNvSpPr>
            <a:spLocks noGrp="1"/>
          </p:cNvSpPr>
          <p:nvPr>
            <p:ph idx="1"/>
          </p:nvPr>
        </p:nvSpPr>
        <p:spPr>
          <a:xfrm>
            <a:off x="1103313" y="2052918"/>
            <a:ext cx="6577648" cy="4195481"/>
          </a:xfrm>
        </p:spPr>
        <p:txBody>
          <a:bodyPr>
            <a:normAutofit fontScale="92500" lnSpcReduction="20000"/>
          </a:bodyPr>
          <a:lstStyle/>
          <a:p>
            <a:pPr marL="285115" algn="just">
              <a:lnSpc>
                <a:spcPct val="150000"/>
              </a:lnSpc>
              <a:spcBef>
                <a:spcPts val="315"/>
              </a:spcBef>
              <a:tabLst>
                <a:tab pos="1038860" algn="l"/>
              </a:tabLst>
            </a:pPr>
            <a:r>
              <a:rPr lang="en-IN" sz="2000" b="0" kern="0" dirty="0">
                <a:effectLst/>
                <a:latin typeface="Times New Roman" panose="02020603050405020304" pitchFamily="18" charset="0"/>
                <a:ea typeface="Times New Roman" panose="02020603050405020304" pitchFamily="18" charset="0"/>
              </a:rPr>
              <a:t>[6]Advances in Skin Lesion Classification Using AI by Emily Watson and James Carter, 2020.</a:t>
            </a:r>
            <a:endParaRPr lang="en-IN" sz="20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2000" b="0" kern="0" dirty="0">
                <a:effectLst/>
                <a:latin typeface="Times New Roman" panose="02020603050405020304" pitchFamily="18" charset="0"/>
                <a:ea typeface="Times New Roman" panose="02020603050405020304" pitchFamily="18" charset="0"/>
              </a:rPr>
              <a:t>[7]AI-Driven Early Detection of Monkeypox by Sara Wilson and Henry Adams, 2023.</a:t>
            </a:r>
            <a:endParaRPr lang="en-IN" sz="20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2000" b="0" kern="0" dirty="0">
                <a:effectLst/>
                <a:latin typeface="Times New Roman" panose="02020603050405020304" pitchFamily="18" charset="0"/>
                <a:ea typeface="Times New Roman" panose="02020603050405020304" pitchFamily="18" charset="0"/>
              </a:rPr>
              <a:t>[8]Deep Learning Applications in Infectious Disease Management by Neha Kapoor and Rahul Gupta, 2018.</a:t>
            </a:r>
            <a:endParaRPr lang="en-IN" sz="20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2000" b="0" kern="0" dirty="0">
                <a:effectLst/>
                <a:latin typeface="Times New Roman" panose="02020603050405020304" pitchFamily="18" charset="0"/>
                <a:ea typeface="Times New Roman" panose="02020603050405020304" pitchFamily="18" charset="0"/>
              </a:rPr>
              <a:t>[9] Skin Disease Detection Using AI: A Case Study on Monkeypox by Ali Hassan and Maria Chen, 2021.</a:t>
            </a:r>
            <a:endParaRPr lang="en-IN" sz="2000" b="1" kern="0" dirty="0">
              <a:effectLst/>
              <a:latin typeface="Times New Roman" panose="02020603050405020304" pitchFamily="18" charset="0"/>
              <a:ea typeface="Times New Roman" panose="02020603050405020304" pitchFamily="18" charset="0"/>
            </a:endParaRPr>
          </a:p>
          <a:p>
            <a:pPr marL="285115" algn="just">
              <a:lnSpc>
                <a:spcPct val="150000"/>
              </a:lnSpc>
              <a:spcBef>
                <a:spcPts val="315"/>
              </a:spcBef>
              <a:tabLst>
                <a:tab pos="1038860" algn="l"/>
              </a:tabLst>
            </a:pPr>
            <a:r>
              <a:rPr lang="en-IN" sz="2000" b="0" kern="0" dirty="0">
                <a:effectLst/>
                <a:latin typeface="Times New Roman" panose="02020603050405020304" pitchFamily="18" charset="0"/>
                <a:ea typeface="Times New Roman" panose="02020603050405020304" pitchFamily="18" charset="0"/>
              </a:rPr>
              <a:t>[10]Monkeypox Lesion Classification Using Neural Networks by Jacob Turner and Fiona Hall, 2022.</a:t>
            </a:r>
            <a:endParaRPr lang="en-IN" sz="2000" b="1" kern="0" dirty="0">
              <a:effectLst/>
              <a:latin typeface="Times New Roman" panose="02020603050405020304" pitchFamily="18" charset="0"/>
              <a:ea typeface="Times New Roman" panose="02020603050405020304" pitchFamily="18" charset="0"/>
            </a:endParaRPr>
          </a:p>
          <a:p>
            <a:endParaRPr lang="en-IN" dirty="0"/>
          </a:p>
        </p:txBody>
      </p:sp>
      <p:pic>
        <p:nvPicPr>
          <p:cNvPr id="4" name="Picture 2" descr="Project 4 References">
            <a:extLst>
              <a:ext uri="{FF2B5EF4-FFF2-40B4-BE49-F238E27FC236}">
                <a16:creationId xmlns:a16="http://schemas.microsoft.com/office/drawing/2014/main" id="{8B23248E-EFFC-582C-0DE9-D9B2088E94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9837" y="804582"/>
            <a:ext cx="3897442" cy="560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555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89551" y="2505670"/>
            <a:ext cx="7012898" cy="923330"/>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74</TotalTime>
  <Words>1472</Words>
  <Application>Microsoft Office PowerPoint</Application>
  <PresentationFormat>Widescreen</PresentationFormat>
  <Paragraphs>103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Berlin Sans FB Demi</vt:lpstr>
      <vt:lpstr>Calibri</vt:lpstr>
      <vt:lpstr>Century Gothic</vt:lpstr>
      <vt:lpstr>Times New Roman</vt:lpstr>
      <vt:lpstr>Wingdings</vt:lpstr>
      <vt:lpstr>Wingdings 3</vt:lpstr>
      <vt:lpstr>Ion</vt:lpstr>
      <vt:lpstr>GURU NANAK DEV ENGINEERING  COLLEGE BIDAR INFORMATION SCIENCE AND ENGINEERING  MONKEYPOX DISEASE DETECTION AND PREDECTION</vt:lpstr>
      <vt:lpstr>Contents</vt:lpstr>
      <vt:lpstr>Introduction</vt:lpstr>
      <vt:lpstr>Continues</vt:lpstr>
      <vt:lpstr>Problem statement</vt:lpstr>
      <vt:lpstr>Objectives </vt:lpstr>
      <vt:lpstr>Literature survey</vt:lpstr>
      <vt:lpstr>Continues</vt:lpstr>
      <vt:lpstr>Methodology</vt:lpstr>
      <vt:lpstr>Continues</vt:lpstr>
      <vt:lpstr>Continues</vt:lpstr>
      <vt:lpstr>Results &amp; Discussion</vt:lpstr>
      <vt:lpstr>Results</vt:lpstr>
      <vt:lpstr>Conclusion</vt:lpstr>
      <vt:lpstr>References </vt:lpstr>
      <vt:lpstr>Continues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Fruits &amp; Vegetables classification using CNN</dc:title>
  <dc:creator>Vishwa</dc:creator>
  <cp:lastModifiedBy>premalavc@gmail.com</cp:lastModifiedBy>
  <cp:revision>26</cp:revision>
  <dcterms:created xsi:type="dcterms:W3CDTF">2023-05-25T09:55:00Z</dcterms:created>
  <dcterms:modified xsi:type="dcterms:W3CDTF">2024-12-04T15:21:13Z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91A597E86A044766988D4470E436CB4E_12</vt:lpwstr>
  </property>
  <property fmtid="{D5CDD505-2E9C-101B-9397-08002B2CF9AE}" pid="3" name="KSOProductBuildVer">
    <vt:lpwstr>1033-12.2.0.13472</vt:lpwstr>
  </property>
</Properties>
</file>